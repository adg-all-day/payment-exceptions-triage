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77724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9326880" y="4389120"/>
            <a:ext cx="502920" cy="1287018"/>
          </a:xfrm>
          <a:custGeom>
            <a:avLst/>
            <a:gdLst/>
            <a:ahLst/>
            <a:cxnLst/>
            <a:rect l="l" t="t" r="r" b="b"/>
            <a:pathLst>
              <a:path w="502920" h="1287018">
                <a:moveTo>
                  <a:pt x="502920" y="0"/>
                </a:moveTo>
                <a:lnTo>
                  <a:pt x="251460" y="643509"/>
                </a:lnTo>
                <a:lnTo>
                  <a:pt x="0" y="1287018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1521440" y="2944368"/>
            <a:ext cx="0" cy="758952"/>
          </a:xfrm>
          <a:custGeom>
            <a:avLst/>
            <a:gdLst/>
            <a:ahLst/>
            <a:cxnLst/>
            <a:rect l="l" t="t" r="r" b="b"/>
            <a:pathLst>
              <a:path w="0" h="758952">
                <a:moveTo>
                  <a:pt x="0" y="0"/>
                </a:moveTo>
                <a:lnTo>
                  <a:pt x="0" y="379476"/>
                </a:lnTo>
                <a:lnTo>
                  <a:pt x="0" y="758952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9326880" y="2089404"/>
            <a:ext cx="502920" cy="422910"/>
          </a:xfrm>
          <a:custGeom>
            <a:avLst/>
            <a:gdLst/>
            <a:ahLst/>
            <a:cxnLst/>
            <a:rect l="l" t="t" r="r" b="b"/>
            <a:pathLst>
              <a:path w="502920" h="422910">
                <a:moveTo>
                  <a:pt x="0" y="422910"/>
                </a:moveTo>
                <a:lnTo>
                  <a:pt x="251460" y="211455"/>
                </a:lnTo>
                <a:lnTo>
                  <a:pt x="502920" y="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5623560" y="2512314"/>
            <a:ext cx="502920" cy="2418588"/>
          </a:xfrm>
          <a:custGeom>
            <a:avLst/>
            <a:gdLst/>
            <a:ahLst/>
            <a:cxnLst/>
            <a:rect l="l" t="t" r="r" b="b"/>
            <a:pathLst>
              <a:path w="502920" h="2418588">
                <a:moveTo>
                  <a:pt x="0" y="2418588"/>
                </a:moveTo>
                <a:lnTo>
                  <a:pt x="251460" y="1209294"/>
                </a:lnTo>
                <a:lnTo>
                  <a:pt x="502920" y="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834639" y="4754879"/>
            <a:ext cx="411481" cy="176023"/>
          </a:xfrm>
          <a:custGeom>
            <a:avLst/>
            <a:gdLst/>
            <a:ahLst/>
            <a:cxnLst/>
            <a:rect l="l" t="t" r="r" b="b"/>
            <a:pathLst>
              <a:path w="411481" h="176023">
                <a:moveTo>
                  <a:pt x="0" y="0"/>
                </a:moveTo>
                <a:lnTo>
                  <a:pt x="205740" y="88012"/>
                </a:lnTo>
                <a:lnTo>
                  <a:pt x="411481" y="176023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834639" y="1997964"/>
            <a:ext cx="3291841" cy="514350"/>
          </a:xfrm>
          <a:custGeom>
            <a:avLst/>
            <a:gdLst/>
            <a:ahLst/>
            <a:cxnLst/>
            <a:rect l="l" t="t" r="r" b="b"/>
            <a:pathLst>
              <a:path w="3291841" h="514350">
                <a:moveTo>
                  <a:pt x="0" y="0"/>
                </a:moveTo>
                <a:lnTo>
                  <a:pt x="1645921" y="257175"/>
                </a:lnTo>
                <a:lnTo>
                  <a:pt x="3291841" y="51435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2200" b="1" i="0">
                <a:solidFill>
                  <a:srgbClr val="16201C"/>
                </a:solidFill>
                <a:latin typeface="Helvetica Neue"/>
              </a:rPr>
              <a:t>Payments exceptions model — 1. Where the training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88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0" i="0">
                <a:solidFill>
                  <a:srgbClr val="6B7C74"/>
                </a:solidFill>
                <a:latin typeface="Helvetica Neue"/>
              </a:rPr>
              <a:t>Code decides the ANSWER so the label is certain. Agents write the PROSE so the evidence cannot be pattern-matched. Neither alone is enough.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331720" cy="1527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0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3892" y="1245412"/>
            <a:ext cx="2309774" cy="365760"/>
          </a:xfrm>
          <a:prstGeom prst="rect">
            <a:avLst/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31673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FAULT_GENERATOR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1" y="133502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seed          20260825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60804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n_total       5000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029968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mix{7 classes}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199132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ambiguous_rate 0.12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368296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overlap_rate  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537460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label_noise   0.03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0520"/>
            <a:ext cx="2331720" cy="11887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8A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892" y="4171492"/>
            <a:ext cx="2309774" cy="365760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24281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TEXT_AGENT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1" y="42611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process x14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4617720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break_type    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4786883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side          in |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956047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yield_in   50 + 50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5125211"/>
            <a:ext cx="20391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yield_out  40 + 40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160520"/>
            <a:ext cx="2377440" cy="15407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8A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57092" y="4171492"/>
            <a:ext cx="2355494" cy="365760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4242816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TEXT_POOL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42611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2424" y="4617720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8A6A12"/>
                </a:solidFill>
                <a:latin typeface="Menlo"/>
              </a:rPr>
              <a:t>PK  break_type + side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4136" y="4786883"/>
            <a:ext cx="212140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2424" y="4873752"/>
            <a:ext cx="20848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complaints[]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2424" y="5042916"/>
            <a:ext cx="20848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remarks[]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5212079"/>
            <a:ext cx="20848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traces[]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2424" y="5381243"/>
            <a:ext cx="20848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notes[]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2424" y="5550407"/>
            <a:ext cx="20848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chatter[]  (shared)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1234440"/>
            <a:ext cx="3200400" cy="25557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0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37452" y="1245412"/>
            <a:ext cx="3178454" cy="365760"/>
          </a:xfrm>
          <a:prstGeom prst="rect">
            <a:avLst/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131673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133502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1691640"/>
            <a:ext cx="2907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0E6B4F"/>
                </a:solidFill>
                <a:latin typeface="Menlo"/>
              </a:rPr>
              <a:t>PK  exception_id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1860804"/>
            <a:ext cx="294436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1947672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value_date, channel, amount_ngn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4" y="2116836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customer{account, name}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2286000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beneficiary{account, bank,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4" y="2455164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            name_on_instruction}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2624328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ledger[]{dr_cr, amount, narration}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2793492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switch{code, message}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2962656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settlement_file_line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3131820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name_enquiry{returned, instructed}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2784" y="3300984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onward_transfers[]{age_days}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3470148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customer_complaint      &lt;- pool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3639312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remarks[]               &lt;- pool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29800" y="1234440"/>
            <a:ext cx="3383280" cy="1709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0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40772" y="1245412"/>
            <a:ext cx="3361334" cy="365760"/>
          </a:xfrm>
          <a:prstGeom prst="rect">
            <a:avLst/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1316736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TARGET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71832" y="133502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6104" y="1691640"/>
            <a:ext cx="30906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0E6B4F"/>
                </a:solidFill>
                <a:latin typeface="Menlo"/>
              </a:rPr>
              <a:t>PK  exception_id  (FK -&gt; CASE)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57816" y="1860804"/>
            <a:ext cx="312724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76104" y="1947672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break_type    1 of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76104" y="2116836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money_trace   &lt;- pool.traces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76104" y="2286000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action        1 of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76104" y="2455164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confidence    0..1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6104" y="2624328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needs_human   bool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76104" y="2793492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analyst_note  &lt;- pool.notes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29800" y="37033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0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40772" y="3714292"/>
            <a:ext cx="3361334" cy="365760"/>
          </a:xfrm>
          <a:prstGeom prst="rect">
            <a:avLst/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76104" y="3785615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EXAMPLE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71832" y="38039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76104" y="4160520"/>
            <a:ext cx="30906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0E6B4F"/>
                </a:solidFill>
                <a:latin typeface="Menlo"/>
              </a:rPr>
              <a:t>PK  exception_id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57816" y="4329683"/>
            <a:ext cx="312724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76104" y="4416552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instruction   fixed preamble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76104" y="4585716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input         CASE as JSON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76104" y="4754879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target        TARGET as JSON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76104" y="4924043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loss computed on TARGET only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26480" y="5074920"/>
            <a:ext cx="3200400" cy="12024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0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37452" y="5085892"/>
            <a:ext cx="3178454" cy="365760"/>
          </a:xfrm>
          <a:prstGeom prst="rect">
            <a:avLst/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72784" y="515721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SPLIT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85632" y="51755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2784" y="5532120"/>
            <a:ext cx="29077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0E6B4F"/>
                </a:solidFill>
                <a:latin typeface="Menlo"/>
              </a:rPr>
              <a:t>PK  split_name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54496" y="5701283"/>
            <a:ext cx="294436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72784" y="5788152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train  4000   label noise 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72784" y="5957316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test   1000   never noised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72784" y="6126479"/>
            <a:ext cx="29077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fingerprint  44dc9843d392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22192" y="1980819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produces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22192" y="2145411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82011" y="4568571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writes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82011" y="4733163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6652" y="3447288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dresses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16652" y="3611880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N : 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19972" y="2026539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described by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9972" y="2191131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63072" y="3049524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wrapped as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63072" y="3214115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19972" y="4758309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assigned 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19972" y="4922901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N : 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6172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 i="1">
                <a:solidFill>
                  <a:srgbClr val="B3341F"/>
                </a:solidFill>
                <a:latin typeface="Helvetica Neue"/>
              </a:rPr>
              <a:t>Three rules learned the hard way, each after a measured failure: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 i="1">
                <a:solidFill>
                  <a:srgbClr val="B3341F"/>
                </a:solidFill>
                <a:latin typeface="Helvetica Neue"/>
              </a:rPr>
              <a:t>1. Evidence must be PRESENT — deleting the generator's remarks left 47% of fraud cases unanswerable.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 i="1">
                <a:solidFill>
                  <a:srgbClr val="B3341F"/>
                </a:solidFill>
                <a:latin typeface="Helvetica Neue"/>
              </a:rPr>
              <a:t>2. Evidence must be in NATURAL language — keeping the template put the rules baseline back to 96.2%.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 i="1">
                <a:solidFill>
                  <a:srgbClr val="B3341F"/>
                </a:solidFill>
                <a:latin typeface="Helvetica Neue"/>
              </a:rPr>
              <a:t>3. The answer may only cite evidence the case CONTAINS — 42% of fraud answers named onward hops that were not there.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2920" y="7360920"/>
            <a:ext cx="201168" cy="128016"/>
          </a:xfrm>
          <a:prstGeom prst="roundRect">
            <a:avLst/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data / ground truth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51760" y="7360920"/>
            <a:ext cx="201168" cy="128016"/>
          </a:xfrm>
          <a:prstGeom prst="round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2608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agent-written text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800600" y="7360920"/>
            <a:ext cx="201168" cy="128016"/>
          </a:xfrm>
          <a:prstGeom prst="round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7492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model artefact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49440" y="7360920"/>
            <a:ext cx="201168" cy="128016"/>
          </a:xfrm>
          <a:prstGeom prst="roundRect">
            <a:avLst/>
          </a:prstGeom>
          <a:solidFill>
            <a:srgbClr val="B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23759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measurement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98280" y="7360920"/>
            <a:ext cx="201168" cy="128016"/>
          </a:xfrm>
          <a:prstGeom prst="roundRect">
            <a:avLst/>
          </a:prstGeom>
          <a:solidFill>
            <a:srgbClr val="5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7260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77724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640580" y="4434840"/>
            <a:ext cx="0" cy="731520"/>
          </a:xfrm>
          <a:custGeom>
            <a:avLst/>
            <a:gdLst/>
            <a:ahLst/>
            <a:cxnLst/>
            <a:rect l="l" t="t" r="r" b="b"/>
            <a:pathLst>
              <a:path w="0" h="731520">
                <a:moveTo>
                  <a:pt x="0" y="0"/>
                </a:moveTo>
                <a:lnTo>
                  <a:pt x="0" y="365760"/>
                </a:lnTo>
                <a:lnTo>
                  <a:pt x="0" y="73152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1521440" y="2898648"/>
            <a:ext cx="0" cy="301752"/>
          </a:xfrm>
          <a:custGeom>
            <a:avLst/>
            <a:gdLst/>
            <a:ahLst/>
            <a:cxnLst/>
            <a:rect l="l" t="t" r="r" b="b"/>
            <a:pathLst>
              <a:path w="0" h="301752">
                <a:moveTo>
                  <a:pt x="0" y="301752"/>
                </a:moveTo>
                <a:lnTo>
                  <a:pt x="0" y="15087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9326880" y="1874519"/>
            <a:ext cx="502920" cy="169165"/>
          </a:xfrm>
          <a:custGeom>
            <a:avLst/>
            <a:gdLst/>
            <a:ahLst/>
            <a:cxnLst/>
            <a:rect l="l" t="t" r="r" b="b"/>
            <a:pathLst>
              <a:path w="502920" h="169165">
                <a:moveTo>
                  <a:pt x="0" y="0"/>
                </a:moveTo>
                <a:lnTo>
                  <a:pt x="251460" y="84583"/>
                </a:lnTo>
                <a:lnTo>
                  <a:pt x="502920" y="169165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7886700" y="4421124"/>
            <a:ext cx="0" cy="699516"/>
          </a:xfrm>
          <a:custGeom>
            <a:avLst/>
            <a:gdLst/>
            <a:ahLst/>
            <a:cxnLst/>
            <a:rect l="l" t="t" r="r" b="b"/>
            <a:pathLst>
              <a:path w="0" h="699516">
                <a:moveTo>
                  <a:pt x="0" y="0"/>
                </a:moveTo>
                <a:lnTo>
                  <a:pt x="0" y="349757"/>
                </a:lnTo>
                <a:lnTo>
                  <a:pt x="0" y="699516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7886700" y="2560320"/>
            <a:ext cx="0" cy="502920"/>
          </a:xfrm>
          <a:custGeom>
            <a:avLst/>
            <a:gdLst/>
            <a:ahLst/>
            <a:cxnLst/>
            <a:rect l="l" t="t" r="r" b="b"/>
            <a:pathLst>
              <a:path w="0" h="502920">
                <a:moveTo>
                  <a:pt x="0" y="0"/>
                </a:moveTo>
                <a:lnTo>
                  <a:pt x="0" y="251460"/>
                </a:lnTo>
                <a:lnTo>
                  <a:pt x="0" y="50292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97880" y="1874519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274320" y="0"/>
                </a:lnTo>
                <a:lnTo>
                  <a:pt x="548640" y="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971800" y="3840479"/>
            <a:ext cx="411480" cy="169165"/>
          </a:xfrm>
          <a:custGeom>
            <a:avLst/>
            <a:gdLst/>
            <a:ahLst/>
            <a:cxnLst/>
            <a:rect l="l" t="t" r="r" b="b"/>
            <a:pathLst>
              <a:path w="411480" h="169165">
                <a:moveTo>
                  <a:pt x="411480" y="0"/>
                </a:moveTo>
                <a:lnTo>
                  <a:pt x="205740" y="84582"/>
                </a:lnTo>
                <a:lnTo>
                  <a:pt x="0" y="169165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971800" y="1874519"/>
            <a:ext cx="411480" cy="2135125"/>
          </a:xfrm>
          <a:custGeom>
            <a:avLst/>
            <a:gdLst/>
            <a:ahLst/>
            <a:cxnLst/>
            <a:rect l="l" t="t" r="r" b="b"/>
            <a:pathLst>
              <a:path w="411480" h="2135125">
                <a:moveTo>
                  <a:pt x="0" y="2135125"/>
                </a:moveTo>
                <a:lnTo>
                  <a:pt x="205740" y="1067563"/>
                </a:lnTo>
                <a:lnTo>
                  <a:pt x="411480" y="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971800" y="1874519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205740" y="0"/>
                </a:lnTo>
                <a:lnTo>
                  <a:pt x="411480" y="0"/>
                </a:lnTo>
                <a:close/>
              </a:path>
            </a:pathLst>
          </a:custGeom>
          <a:noFill/>
          <a:ln w="19050">
            <a:solidFill>
              <a:srgbClr val="6B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2200" b="1" i="0">
                <a:solidFill>
                  <a:srgbClr val="16201C"/>
                </a:solidFill>
                <a:latin typeface="Helvetica Neue"/>
              </a:rPr>
              <a:t>Payments exceptions model — 2. Training, measuring, delivering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88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0" i="0">
                <a:solidFill>
                  <a:srgbClr val="6B7C74"/>
                </a:solidFill>
                <a:latin typeface="Helvetica Neue"/>
              </a:rPr>
              <a:t>One held-out set of 1000 cases scores four systems. The fraud auto-close rate is the number that decides whether any of it is sellable.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1E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3892" y="1199692"/>
            <a:ext cx="2446934" cy="36576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7101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BASE_MODEL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2893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artefact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45920"/>
            <a:ext cx="21762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1E4E8C"/>
                </a:solidFill>
                <a:latin typeface="Menlo"/>
              </a:rPr>
              <a:t>PK  model_id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1815084"/>
            <a:ext cx="221284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901952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repo   google/gemma-4-E2B-it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071116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params ~2B effective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240280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dtype  bfloat16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409444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vision tower  UNUSED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2468880" cy="1527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1E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892" y="3257092"/>
            <a:ext cx="2446934" cy="36576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328415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3346703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03320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trl SFTTrainer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872483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epochs 2   steps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041647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batch 1 x accum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4210811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lr 1e-4 cosine, warmup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4379975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max_length 3072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4549139"/>
            <a:ext cx="21762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grad checkpointing 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118872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1E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4252" y="1199692"/>
            <a:ext cx="2492654" cy="36576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9584" y="1271016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LORA_ADAPTER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2" y="12893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artefact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9584" y="1645920"/>
            <a:ext cx="22219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1E4E8C"/>
                </a:solidFill>
                <a:latin typeface="Menlo"/>
              </a:rPr>
              <a:t>PK  adapter_id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1296" y="1815084"/>
            <a:ext cx="225856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584" y="1901952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r 32   alpha 64   dropout 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9584" y="2071116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targets 205 text linears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584" y="2240280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  q,k,v,o,gate,up,down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9584" y="2409444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size ~193 MB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246120"/>
            <a:ext cx="2514600" cy="11887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1E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94252" y="3257092"/>
            <a:ext cx="2492654" cy="36576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9584" y="3328415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GPU_HOST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6632" y="3346703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infra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9584" y="3703320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NVIDIA L4   23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9584" y="3872483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g2-standard-32  125 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9584" y="4041647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us-east1-c   spot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9584" y="4210811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~19.4 s/step  ~2h40m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118872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B33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57492" y="1199692"/>
            <a:ext cx="2858414" cy="365760"/>
          </a:xfrm>
          <a:prstGeom prst="rect">
            <a:avLst/>
          </a:prstGeom>
          <a:solidFill>
            <a:srgbClr val="B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2824" y="127101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12893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2824" y="1645920"/>
            <a:ext cx="2587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B3341F"/>
                </a:solidFill>
                <a:latin typeface="Menlo"/>
              </a:rPr>
              <a:t>PK  exception_id + model_id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74536" y="1815084"/>
            <a:ext cx="262432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2824" y="1901952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model_id      FK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2824" y="2071116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raw_output    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2824" y="2240280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parsed{break_type, action,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92824" y="2409444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       confidence, needs_human}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3063240"/>
            <a:ext cx="2880360" cy="13578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B33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57492" y="3074212"/>
            <a:ext cx="2858414" cy="365760"/>
          </a:xfrm>
          <a:prstGeom prst="rect">
            <a:avLst/>
          </a:prstGeom>
          <a:solidFill>
            <a:srgbClr val="B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92824" y="314553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SAFETY_GATE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316382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92824" y="3520440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signals: onward movement,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92824" y="3689604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  account age, customer denial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92824" y="3858768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escalates only, never closes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92824" y="4027931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catches 62% of fraud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92824" y="4197095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holds 4% of clean cases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46520" y="5120640"/>
            <a:ext cx="2880360" cy="11887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B33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57492" y="5131612"/>
            <a:ext cx="2858414" cy="365760"/>
          </a:xfrm>
          <a:prstGeom prst="rect">
            <a:avLst/>
          </a:prstGeom>
          <a:solidFill>
            <a:srgbClr val="B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92824" y="520293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SCORER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5632" y="522122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process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92824" y="5577840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per-class accuracy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92824" y="5747003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confusion matrix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92824" y="5916167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confidence calibration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92824" y="6085331"/>
            <a:ext cx="25877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deferral behaviour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29800" y="1188720"/>
            <a:ext cx="3383280" cy="1709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B33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40772" y="1199692"/>
            <a:ext cx="3361334" cy="365760"/>
          </a:xfrm>
          <a:prstGeom prst="rect">
            <a:avLst/>
          </a:prstGeom>
          <a:solidFill>
            <a:srgbClr val="B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76104" y="1271016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METRICS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371832" y="128930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76104" y="1645920"/>
            <a:ext cx="30906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B3341F"/>
                </a:solidFill>
                <a:latin typeface="Menlo"/>
              </a:rPr>
              <a:t>PK  model_id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57816" y="1815084"/>
            <a:ext cx="312724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76104" y="1901952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break_type_accuracy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76104" y="2071116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action_accuracy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76104" y="2240280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fraud_missed_pct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76104" y="2409444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fraud_MISSED_AND_AUTOCLOSED  &lt;- the one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76104" y="2578608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unreadable_pct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76104" y="2747772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kept_and_answered_accuracy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829800" y="32004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B33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840772" y="3211372"/>
            <a:ext cx="3361334" cy="365760"/>
          </a:xfrm>
          <a:prstGeom prst="rect">
            <a:avLst/>
          </a:prstGeom>
          <a:solidFill>
            <a:srgbClr val="B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76104" y="3282696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SYSTEM_UNDER_TEST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371832" y="330098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entity x4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76104" y="3657600"/>
            <a:ext cx="30906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B3341F"/>
                </a:solidFill>
                <a:latin typeface="Menlo"/>
              </a:rPr>
              <a:t>PK  model_id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57816" y="3826763"/>
            <a:ext cx="312724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976104" y="3913632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1  rules engine        no 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76104" y="4082796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2  E2B untrained       the before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76104" y="4251959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3  26B untrained       big, generic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76104" y="4421123"/>
            <a:ext cx="30906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4  E2B fine-tuned      the product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383280" y="5166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0320">
            <a:solidFill>
              <a:srgbClr val="5B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394252" y="5177332"/>
            <a:ext cx="2492654" cy="365760"/>
          </a:xfrm>
          <a:prstGeom prst="rect">
            <a:avLst/>
          </a:prstGeom>
          <a:solidFill>
            <a:srgbClr val="5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29584" y="5248656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LAPTOP_BUILD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56632" y="5266944"/>
            <a:ext cx="7132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artefact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29584" y="5623560"/>
            <a:ext cx="22219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1" i="0">
                <a:solidFill>
                  <a:srgbClr val="5B3A8C"/>
                </a:solidFill>
                <a:latin typeface="Menlo"/>
              </a:rPr>
              <a:t>PK  build_id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11296" y="5792724"/>
            <a:ext cx="2258568" cy="10972"/>
          </a:xfrm>
          <a:prstGeom prst="rect">
            <a:avLst/>
          </a:prstGeom>
          <a:solidFill>
            <a:srgbClr val="C9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9584" y="5879592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merged   10.2 GB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29584" y="6048756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mlx 4-bit  ~2.5 GB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29584" y="6217920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local http, no network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29584" y="6387083"/>
            <a:ext cx="222199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 b="0" i="0">
                <a:solidFill>
                  <a:srgbClr val="33423B"/>
                </a:solidFill>
                <a:latin typeface="Menlo"/>
              </a:rPr>
              <a:t>runs with wifi OFF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19172" y="1600199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fine-tuned into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19172" y="1764791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19172" y="2667762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produces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519172" y="2832353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19172" y="3650741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hosts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19172" y="3815333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13832" y="1600199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answers with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13832" y="1764791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28332" y="2537460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passed through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28332" y="2702052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28332" y="4496562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then marked by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28332" y="4661153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N : 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19972" y="1684782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aggregated into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19972" y="1849374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N : 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863072" y="2775204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measured as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863072" y="293979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82212" y="4526280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50" b="1" i="0">
                <a:solidFill>
                  <a:srgbClr val="6B7C74"/>
                </a:solidFill>
                <a:latin typeface="Helvetica Neue"/>
              </a:rPr>
              <a:t>merged into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982212" y="4690872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800" b="0" i="0">
                <a:solidFill>
                  <a:srgbClr val="6B7C74"/>
                </a:solidFill>
                <a:latin typeface="Menlo"/>
              </a:rPr>
              <a:t>1 : 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46520" y="67208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 i="1">
                <a:solidFill>
                  <a:srgbClr val="0E6B4F"/>
                </a:solidFill>
                <a:latin typeface="Helvetica Neue"/>
              </a:rPr>
              <a:t>TRAIN (4000) reaches the TRAINER only. TEST (1000) reaches the SCORER only. Nothing crosses.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 b="0" i="1">
                <a:solidFill>
                  <a:srgbClr val="0E6B4F"/>
                </a:solidFill>
                <a:latin typeface="Helvetica Neue"/>
              </a:rPr>
              <a:t>The test split never receives label noise — it is the ruler, and a bent ruler measures nothing.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02920" y="7360920"/>
            <a:ext cx="201168" cy="128016"/>
          </a:xfrm>
          <a:prstGeom prst="roundRect">
            <a:avLst/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7724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data / ground truth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651760" y="7360920"/>
            <a:ext cx="201168" cy="128016"/>
          </a:xfrm>
          <a:prstGeom prst="round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2608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agent-written text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800600" y="7360920"/>
            <a:ext cx="201168" cy="128016"/>
          </a:xfrm>
          <a:prstGeom prst="round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7492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model artefact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949440" y="7360920"/>
            <a:ext cx="201168" cy="128016"/>
          </a:xfrm>
          <a:prstGeom prst="roundRect">
            <a:avLst/>
          </a:prstGeom>
          <a:solidFill>
            <a:srgbClr val="B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23759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measurement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098280" y="7360920"/>
            <a:ext cx="201168" cy="128016"/>
          </a:xfrm>
          <a:prstGeom prst="roundRect">
            <a:avLst/>
          </a:prstGeom>
          <a:solidFill>
            <a:srgbClr val="5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372600" y="733348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50" b="0" i="0">
                <a:solidFill>
                  <a:srgbClr val="6B7C74"/>
                </a:solidFill>
                <a:latin typeface="Helvetica Neue"/>
              </a:rPr>
              <a:t>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